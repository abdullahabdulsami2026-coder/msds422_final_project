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108" b="108"/>
          <a:stretch>
            <a:fillRect/>
          </a:stretch>
        </p:blipFill>
        <p:spPr>
          <a:xfrm>
            <a:off x="25400" y="25400"/>
            <a:ext cx="16192500" cy="90805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25400" y="25400"/>
            <a:ext cx="16192500" cy="9080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876300" y="685800"/>
            <a:ext cx="10071100" cy="361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7900" b="true">
                <a:solidFill>
                  <a:srgbClr val="000000"/>
                </a:solidFill>
                <a:latin typeface="Poppins"/>
              </a:rPr>
              <a:t>Predicting 30-Day Diabetes Readmissions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76300" y="5257800"/>
            <a:ext cx="36195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false">
                <a:solidFill>
                  <a:srgbClr val="000000"/>
                </a:solidFill>
                <a:latin typeface="Poppins"/>
              </a:rPr>
              <a:t>Abdullah Abdul Sam| Feifan Liu | Jiahao Li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876300" y="6210300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MSDS 422 – Practical Machine Learning | Final Project – Milestone 2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095500"/>
            <a:ext cx="14490700" cy="6375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095500"/>
            <a:ext cx="4660900" cy="63754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1155700" y="23495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CD4545"/>
          </a:solidFill>
        </p:spPr>
      </p:sp>
      <p:sp>
        <p:nvSpPr>
          <p:cNvPr name="AutoShape 7" id="7"/>
          <p:cNvSpPr/>
          <p:nvPr/>
        </p:nvSpPr>
        <p:spPr>
          <a:xfrm>
            <a:off x="5791200" y="2095500"/>
            <a:ext cx="4660900" cy="63754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6070600" y="23495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CD4545"/>
          </a:solidFill>
        </p:spPr>
      </p:sp>
      <p:sp>
        <p:nvSpPr>
          <p:cNvPr name="AutoShape 9" id="9"/>
          <p:cNvSpPr/>
          <p:nvPr/>
        </p:nvSpPr>
        <p:spPr>
          <a:xfrm>
            <a:off x="10706100" y="2095500"/>
            <a:ext cx="4660900" cy="63754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0985500" y="23495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CD4545"/>
          </a:solidFill>
        </p:spPr>
      </p:sp>
      <p:sp>
        <p:nvSpPr>
          <p:cNvPr name="TextBox 11" id="11"/>
          <p:cNvSpPr txBox="true"/>
          <p:nvPr/>
        </p:nvSpPr>
        <p:spPr>
          <a:xfrm>
            <a:off x="876300" y="660400"/>
            <a:ext cx="14490700" cy="1155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CD4545"/>
                </a:solidFill>
                <a:latin typeface="Poppins"/>
              </a:rPr>
              <a:t>Hospitals Face Financial and Operational Strain from Preventable Diabetes Readmissions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43000" y="3314700"/>
            <a:ext cx="41275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Business Problem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57900" y="3314700"/>
            <a:ext cx="41275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Business Objective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0972800" y="3314700"/>
            <a:ext cx="41275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Decision Question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384300" y="4572000"/>
            <a:ext cx="38735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Financial penalties and operational burden from 30-day diabetes readmissions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384300" y="5854700"/>
            <a:ext cx="38735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Many readmissions are preventable with targeted interventions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384300" y="7137400"/>
            <a:ext cx="38735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Hospitals lack capability to identify high-risk patients at discharge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299200" y="45720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Develop ML model to predict 30-day readmission risk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299200" y="54991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Enable prioritization of enhanced discharge planning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299200" y="64135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Support targeted post-discharge follow-up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214100" y="4572000"/>
            <a:ext cx="38735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Which diabetes patients need additional intervention at discharge?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214100" y="58547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Goal: Reduce likelihood of readmission within 30 days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016000" y="4635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016000" y="5918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016000" y="7200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5930900" y="4635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5930900" y="5549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5930900" y="6464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0845800" y="4635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0845800" y="5918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590800"/>
            <a:ext cx="241300" cy="241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2590800"/>
            <a:ext cx="241300" cy="241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4100" y="25908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876300" y="12827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CD4545"/>
                </a:solidFill>
                <a:latin typeface="Poppins"/>
              </a:rPr>
              <a:t>Analysis Draws from 101,766 Inpatient Encounters Across 130 U.S. Hospitals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876300" y="3086100"/>
            <a:ext cx="542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CD4545"/>
                </a:solidFill>
                <a:latin typeface="Poppins"/>
              </a:rPr>
              <a:t>Dataset Overview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934200" y="3086100"/>
            <a:ext cx="8445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CD4545"/>
                </a:solidFill>
                <a:latin typeface="Poppins"/>
              </a:rPr>
              <a:t>Feature Categories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130300" y="3822700"/>
            <a:ext cx="516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UCI Diabetes 130-US Hospitals (1999–2008)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130300" y="4775200"/>
            <a:ext cx="516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101,766 inpatient encounters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1130300" y="5359400"/>
            <a:ext cx="516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130 U.S. hospitals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300" y="5930900"/>
            <a:ext cx="516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55 original features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7188200" y="3822700"/>
            <a:ext cx="8191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Demographics: Age, gender, race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7188200" y="4406900"/>
            <a:ext cx="819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Admission details: Type, source, disposition, length of stay, specialty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7188200" y="5359400"/>
            <a:ext cx="819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Clinical metrics: Lab procedures, medications, diagnoses, prior visits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7188200" y="6311900"/>
            <a:ext cx="8191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Laboratory results: Glucose serum, HbA1c tests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7188200" y="6883400"/>
            <a:ext cx="8191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Medications: 24 diabetes drugs with dosage change indicators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749300" y="3886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49300" y="485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749300" y="5422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749300" y="5994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807200" y="3886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807200" y="4470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807200" y="5422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6807200" y="6375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807200" y="694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591" b="591"/>
          <a:stretch>
            <a:fillRect/>
          </a:stretch>
        </p:blipFill>
        <p:spPr>
          <a:xfrm>
            <a:off x="25400" y="25400"/>
            <a:ext cx="5168900" cy="90805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2374900"/>
            <a:ext cx="9283700" cy="6172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2374900"/>
            <a:ext cx="2921000" cy="61722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400800" y="25908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AutoShape 8" id="8"/>
          <p:cNvSpPr/>
          <p:nvPr/>
        </p:nvSpPr>
        <p:spPr>
          <a:xfrm>
            <a:off x="9258300" y="2374900"/>
            <a:ext cx="2921000" cy="61722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9575800" y="25908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AutoShape 10" id="10"/>
          <p:cNvSpPr/>
          <p:nvPr/>
        </p:nvSpPr>
        <p:spPr>
          <a:xfrm>
            <a:off x="12433300" y="2374900"/>
            <a:ext cx="2921000" cy="61722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12750800" y="25908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TextBox 12" id="12"/>
          <p:cNvSpPr txBox="true"/>
          <p:nvPr/>
        </p:nvSpPr>
        <p:spPr>
          <a:xfrm>
            <a:off x="6083300" y="584200"/>
            <a:ext cx="92837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300" b="true">
                <a:solidFill>
                  <a:srgbClr val="CD4545"/>
                </a:solidFill>
                <a:latin typeface="Poppins"/>
              </a:rPr>
              <a:t>Severe Class Imbalance Requires Specialized Evaluation Beyond Accuracy Metrics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337300" y="3454400"/>
            <a:ext cx="24003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Target Variable Construction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9525000" y="3454400"/>
            <a:ext cx="24003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Class Distribution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2700000" y="3454400"/>
            <a:ext cx="2400300" cy="1155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Evaluation Implications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591300" y="5156200"/>
            <a:ext cx="2146300" cy="224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Binary classification: readmit_binary = 1 (within 30 days) vs. 0 (no readmission or after 30 days)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9766300" y="4381500"/>
            <a:ext cx="21463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Positive class: 11.2%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9766300" y="5194300"/>
            <a:ext cx="21463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Negative class: 88.8%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9766300" y="6007100"/>
            <a:ext cx="21463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Imbalance ratio: ~7.2:1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2954000" y="4775200"/>
            <a:ext cx="21463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Accuracy-based metrics would be misleading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2954000" y="5905500"/>
            <a:ext cx="21463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Primary evaluation: AUROC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2954000" y="7035800"/>
            <a:ext cx="2146300" cy="128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Secondary metrics: Recall and precision for clinical utility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6210300" y="52070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9398000" y="44450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9398000" y="52451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9398000" y="60579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2573000" y="48260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2573000" y="59563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2573000" y="70866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2806700"/>
            <a:ext cx="203200" cy="203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2806700"/>
            <a:ext cx="203200" cy="203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6700" y="28067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522" b="522"/>
          <a:stretch>
            <a:fillRect/>
          </a:stretch>
        </p:blipFill>
        <p:spPr>
          <a:xfrm>
            <a:off x="11049000" y="12700"/>
            <a:ext cx="5168900" cy="90932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2171700"/>
            <a:ext cx="9283700" cy="6426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2171700"/>
            <a:ext cx="92837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191000"/>
            <a:ext cx="9283700" cy="1676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76300" y="6235700"/>
            <a:ext cx="9283700" cy="2362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533400"/>
            <a:ext cx="9283700" cy="1409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Missing Data Patterns Reflect Clinical Practice and Provide Predictive Signal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76300" y="2171700"/>
            <a:ext cx="9283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CD4545"/>
                </a:solidFill>
                <a:latin typeface="Poppins"/>
              </a:rPr>
              <a:t>High-Missingness Features (Dropped)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76300" y="4191000"/>
            <a:ext cx="9283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300" b="true">
                <a:solidFill>
                  <a:srgbClr val="CD4545"/>
                </a:solidFill>
                <a:latin typeface="Poppins"/>
              </a:rPr>
              <a:t>Clinically Meaningful Missingness (Retained)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76300" y="6235700"/>
            <a:ext cx="9283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Key Insight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2667000"/>
            <a:ext cx="9029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Weight: ~97% missing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3111500"/>
            <a:ext cx="9029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Payer code: ~52% missing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76300" y="3543300"/>
            <a:ext cx="9283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Both exceed acceptable thresholds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30300" y="4686300"/>
            <a:ext cx="9029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Medical specialty: ~47% (encoded as 'Unknown')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5143500"/>
            <a:ext cx="9029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Glucose serum test: &gt;80% missing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5588000"/>
            <a:ext cx="9029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HbA1c test result: &gt;83% missing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6819900"/>
            <a:ext cx="9029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Lab test missingness &gt;80% reflects clinical practice, not data quality issues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30300" y="7556500"/>
            <a:ext cx="9029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Absence of tests carries predictive information about patient risk profiles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8305800"/>
            <a:ext cx="9029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Retained as categorical signal rather than imputed or removed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749300" y="27178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749300" y="3162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749300" y="47371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749300" y="5194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749300" y="56388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749300" y="68707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749300" y="7607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749300" y="83566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522" b="522"/>
          <a:stretch>
            <a:fillRect/>
          </a:stretch>
        </p:blipFill>
        <p:spPr>
          <a:xfrm>
            <a:off x="11049000" y="12700"/>
            <a:ext cx="5168900" cy="90932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1651000"/>
            <a:ext cx="9283700" cy="695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1651000"/>
            <a:ext cx="2921000" cy="42672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1231900" y="1854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CD4545"/>
          </a:solidFill>
        </p:spPr>
      </p:sp>
      <p:sp>
        <p:nvSpPr>
          <p:cNvPr name="AutoShape 8" id="8"/>
          <p:cNvSpPr/>
          <p:nvPr/>
        </p:nvSpPr>
        <p:spPr>
          <a:xfrm>
            <a:off x="4051300" y="1651000"/>
            <a:ext cx="2921000" cy="42672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4406900" y="1854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CD4545"/>
          </a:solidFill>
        </p:spPr>
      </p:sp>
      <p:sp>
        <p:nvSpPr>
          <p:cNvPr name="AutoShape 10" id="10"/>
          <p:cNvSpPr/>
          <p:nvPr/>
        </p:nvSpPr>
        <p:spPr>
          <a:xfrm>
            <a:off x="7239000" y="1651000"/>
            <a:ext cx="2921000" cy="42672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7594600" y="1854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CD4545"/>
          </a:solidFill>
        </p:spPr>
      </p:sp>
      <p:sp>
        <p:nvSpPr>
          <p:cNvPr name="AutoShape 12" id="12"/>
          <p:cNvSpPr/>
          <p:nvPr/>
        </p:nvSpPr>
        <p:spPr>
          <a:xfrm>
            <a:off x="876300" y="6108700"/>
            <a:ext cx="9283700" cy="24892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1231900" y="63119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CD4545"/>
          </a:solidFill>
        </p:spPr>
      </p:sp>
      <p:sp>
        <p:nvSpPr>
          <p:cNvPr name="TextBox 14" id="14"/>
          <p:cNvSpPr txBox="true"/>
          <p:nvPr/>
        </p:nvSpPr>
        <p:spPr>
          <a:xfrm>
            <a:off x="876300" y="520700"/>
            <a:ext cx="92837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Patient Demographics Show Age Concentration and Racial Skew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43000" y="2616200"/>
            <a:ext cx="24003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CD4545"/>
                </a:solidFill>
                <a:latin typeface="Poppins"/>
              </a:rPr>
              <a:t>Age Distribution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318000" y="2616200"/>
            <a:ext cx="24003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CD4545"/>
                </a:solidFill>
                <a:latin typeface="Poppins"/>
              </a:rPr>
              <a:t>Gender &amp; Race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493000" y="2616200"/>
            <a:ext cx="24003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CD4545"/>
                </a:solidFill>
                <a:latin typeface="Poppins"/>
              </a:rPr>
              <a:t>Length of Stay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43000" y="7073900"/>
            <a:ext cx="87630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CD4545"/>
                </a:solidFill>
                <a:latin typeface="Poppins"/>
              </a:rPr>
              <a:t>Medication Burden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43000" y="3429000"/>
            <a:ext cx="24003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Majority fall within 60–80 age range, reflecting typical diabetes demographics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4318000" y="3429000"/>
            <a:ext cx="2400300" cy="228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Gender: Approximately balanced. Race: Skewed toward Caucasian patients, raising generalizability concerns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7493000" y="3429000"/>
            <a:ext cx="2400300" cy="114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Right-skewed distribution with typical stays of 2–4 days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43000" y="7556500"/>
            <a:ext cx="8763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Most patients receive 10–20 medications, indicating widespread polypharmacy. Prior utilization shows long right tails identifying high-risk subgroups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044700"/>
            <a:ext cx="190500" cy="190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700" y="2044700"/>
            <a:ext cx="190500" cy="190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044700"/>
            <a:ext cx="190500" cy="190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65024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591" b="591"/>
          <a:stretch>
            <a:fillRect/>
          </a:stretch>
        </p:blipFill>
        <p:spPr>
          <a:xfrm>
            <a:off x="11049000" y="25400"/>
            <a:ext cx="5168900" cy="90805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2527300"/>
            <a:ext cx="9283700" cy="5969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2527300"/>
            <a:ext cx="4508500" cy="59690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5651500" y="2527300"/>
            <a:ext cx="4508500" cy="59690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TextBox 8" id="8"/>
          <p:cNvSpPr txBox="true"/>
          <p:nvPr/>
        </p:nvSpPr>
        <p:spPr>
          <a:xfrm>
            <a:off x="876300" y="622300"/>
            <a:ext cx="9283700" cy="163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CD4545"/>
                </a:solidFill>
                <a:latin typeface="Poppins"/>
              </a:rPr>
              <a:t>Insulin Dominates Medication Changes, Signaling Treatment Complexity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1143000" y="2768600"/>
            <a:ext cx="39878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Medication Change Analysis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5905500" y="2768600"/>
            <a:ext cx="39878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Clinical Interpretation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384300" y="4483100"/>
            <a:ext cx="37338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latin typeface="Poppins"/>
              </a:rPr>
              <a:t>Insulin: &gt;20,000 dosage changes (dramatically highest)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384300" y="5689600"/>
            <a:ext cx="3733800" cy="137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latin typeface="Poppins"/>
              </a:rPr>
              <a:t>Oral agents (metformin, glyburide, glipizide): substantially lower frequencies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384300" y="7239000"/>
            <a:ext cx="37338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latin typeface="Poppins"/>
              </a:rPr>
              <a:t>Clear separation between insulin and other diabetes medications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159500" y="3962400"/>
            <a:ext cx="3733800" cy="137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latin typeface="Poppins"/>
              </a:rPr>
              <a:t>High medication volatility reflects treatment complexity and unstable glycemic control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159500" y="5511800"/>
            <a:ext cx="37338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latin typeface="Poppins"/>
              </a:rPr>
              <a:t>Frequent dosage adjustments indicate disease severity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159500" y="6731000"/>
            <a:ext cx="37338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latin typeface="Poppins"/>
              </a:rPr>
              <a:t>Medication change history is a strong predictor of readmission risk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016000" y="45339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016000" y="57531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016000" y="73025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778500" y="40259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5778500" y="55753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5778500" y="67818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917700"/>
            <a:ext cx="14490700" cy="6591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917700"/>
            <a:ext cx="3429000" cy="65913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1181100" y="2159000"/>
            <a:ext cx="660400" cy="6604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AutoShape 7" id="7"/>
          <p:cNvSpPr/>
          <p:nvPr/>
        </p:nvSpPr>
        <p:spPr>
          <a:xfrm>
            <a:off x="4559300" y="1917700"/>
            <a:ext cx="3429000" cy="65913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4864100" y="2159000"/>
            <a:ext cx="660400" cy="6604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AutoShape 9" id="9"/>
          <p:cNvSpPr/>
          <p:nvPr/>
        </p:nvSpPr>
        <p:spPr>
          <a:xfrm>
            <a:off x="8242300" y="1917700"/>
            <a:ext cx="3429000" cy="65913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8559800" y="2159000"/>
            <a:ext cx="660400" cy="6604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AutoShape 11" id="11"/>
          <p:cNvSpPr/>
          <p:nvPr/>
        </p:nvSpPr>
        <p:spPr>
          <a:xfrm>
            <a:off x="11938000" y="1917700"/>
            <a:ext cx="3429000" cy="65913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12242800" y="2159000"/>
            <a:ext cx="660400" cy="6604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609600"/>
            <a:ext cx="144907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500" b="true">
                <a:solidFill>
                  <a:srgbClr val="CD4545"/>
                </a:solidFill>
                <a:latin typeface="Poppins"/>
              </a:rPr>
              <a:t>EDA Summary: Readmission Risk Correlates with Utilization Intensity and Treatment Complexity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43000" y="3048000"/>
            <a:ext cx="29083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CD4545"/>
                </a:solidFill>
                <a:latin typeface="Poppins"/>
              </a:rPr>
              <a:t>Key Findings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826000" y="3048000"/>
            <a:ext cx="29083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CD4545"/>
                </a:solidFill>
                <a:latin typeface="Poppins"/>
              </a:rPr>
              <a:t>Missingness Insight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509000" y="3048000"/>
            <a:ext cx="2908300" cy="1193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CD4545"/>
                </a:solidFill>
                <a:latin typeface="Poppins"/>
              </a:rPr>
              <a:t>Feature Engineering Implications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2192000" y="3048000"/>
            <a:ext cx="29083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CD4545"/>
                </a:solidFill>
                <a:latin typeface="Poppins"/>
              </a:rPr>
              <a:t>Modeling Implications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384300" y="3606800"/>
            <a:ext cx="26543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Readmission patterns strongly associate with healthcare utilization intensity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384300" y="5448300"/>
            <a:ext cx="26543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Medication burden and dosage volatility signal treatment complexity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384300" y="6959600"/>
            <a:ext cx="26543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Length of stay and diagnosis count reflect acute illness severity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5080000" y="4013200"/>
            <a:ext cx="26543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Missing lab results provide predictive signal rather than representing data quality issues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5080000" y="5854700"/>
            <a:ext cx="26543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Absence patterns reflect clinical decision-making and patient risk profiles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763000" y="4406900"/>
            <a:ext cx="26543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Capture utilization intensity and medication complexity metrics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763000" y="5918200"/>
            <a:ext cx="26543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Encode missing lab results as categorical features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8763000" y="7099300"/>
            <a:ext cx="26543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Develop prior engagement pattern indicators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2446000" y="4013200"/>
            <a:ext cx="26543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Handle non-linear interactions between clinical variables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2446000" y="5524500"/>
            <a:ext cx="26543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Prioritize clinically relevant metrics over accuracy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2446000" y="6692900"/>
            <a:ext cx="26543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latin typeface="Poppins"/>
              </a:rPr>
              <a:t>Account for class imbalance in evaluation framework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016000" y="36703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016000" y="55118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1016000" y="7023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4699000" y="40640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4699000" y="59055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8382000" y="44704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8382000" y="59817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8382000" y="7150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12065000" y="40640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12065000" y="55753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12065000" y="67564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7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374900"/>
            <a:ext cx="215900" cy="215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387600"/>
            <a:ext cx="177800" cy="177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2374900"/>
            <a:ext cx="215900" cy="215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700" y="2374900"/>
            <a:ext cx="2159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6642100"/>
            <a:ext cx="14490700" cy="1955800"/>
          </a:xfrm>
          <a:prstGeom prst="roundRect">
            <a:avLst>
              <a:gd name="adj" fmla="val 3246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6642100"/>
            <a:ext cx="4610100" cy="1955800"/>
          </a:xfrm>
          <a:prstGeom prst="roundRect">
            <a:avLst>
              <a:gd name="adj" fmla="val 3246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5816600" y="6642100"/>
            <a:ext cx="4610100" cy="1955800"/>
          </a:xfrm>
          <a:prstGeom prst="roundRect">
            <a:avLst>
              <a:gd name="adj" fmla="val 3246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10744200" y="6642100"/>
            <a:ext cx="4610100" cy="1955800"/>
          </a:xfrm>
          <a:prstGeom prst="roundRect">
            <a:avLst>
              <a:gd name="adj" fmla="val 3246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TextBox 8" id="8"/>
          <p:cNvSpPr txBox="true"/>
          <p:nvPr/>
        </p:nvSpPr>
        <p:spPr>
          <a:xfrm>
            <a:off x="876300" y="520700"/>
            <a:ext cx="144907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Data Preparation Balances Clinical Validity with Statistical Rigor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76300" y="1892300"/>
            <a:ext cx="6921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Preprocessing Strategy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432800" y="1892300"/>
            <a:ext cx="6921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000" b="true">
                <a:solidFill>
                  <a:srgbClr val="CD4545"/>
                </a:solidFill>
                <a:latin typeface="Poppins"/>
              </a:rPr>
              <a:t>Feature Engineering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76300" y="8267700"/>
            <a:ext cx="46101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CD4545"/>
                </a:solidFill>
                <a:latin typeface="Poppins"/>
              </a:rPr>
              <a:t>Final Encounters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5816600" y="8267700"/>
            <a:ext cx="46101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CD4545"/>
                </a:solidFill>
                <a:latin typeface="Poppins"/>
              </a:rPr>
              <a:t>Total Features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0744200" y="8267700"/>
            <a:ext cx="46101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CD4545"/>
                </a:solidFill>
                <a:latin typeface="Poppins"/>
              </a:rPr>
              <a:t>Positive Class Rate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255270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Remove hospice and deceased discharges (not valid candidates)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327660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Retain only first encounter per patient (prevent data leakage)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30300" y="401320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Drop high-missingness features: weight, payer_code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4737100"/>
            <a:ext cx="66675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Impute race using mode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5168900"/>
            <a:ext cx="66675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Encode missing medical_specialty as 'Unknown'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561340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Preserve lab test non-performance as categorical information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8686800" y="2552700"/>
            <a:ext cx="66675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Construct medication burden indicators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8686800" y="2997200"/>
            <a:ext cx="66675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Engineer medication change frequency metrics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8686800" y="342900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latin typeface="Poppins"/>
              </a:rPr>
              <a:t>Develop utilization intensity scores from prior visit patterns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76300" y="6692900"/>
            <a:ext cx="4851400" cy="1511300"/>
          </a:xfrm>
          <a:prstGeom prst="roundRect">
            <a:avLst>
              <a:gd name="adj" fmla="val 4201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79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~70,000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5816600" y="6692900"/>
            <a:ext cx="4851400" cy="1511300"/>
          </a:xfrm>
          <a:prstGeom prst="roundRect">
            <a:avLst>
              <a:gd name="adj" fmla="val 4201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79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~77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0744200" y="6692900"/>
            <a:ext cx="4851400" cy="1511300"/>
          </a:xfrm>
          <a:prstGeom prst="roundRect">
            <a:avLst>
              <a:gd name="adj" fmla="val 4201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79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11%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749300" y="26035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749300" y="33274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749300" y="4064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749300" y="47879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749300" y="52197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749300" y="56642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8305800" y="26035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8305800" y="3048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8305800" y="34798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5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120900"/>
            <a:ext cx="14490700" cy="6350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120900"/>
            <a:ext cx="4660900" cy="63500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1143000" y="23749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CD4545"/>
          </a:solidFill>
        </p:spPr>
      </p:sp>
      <p:sp>
        <p:nvSpPr>
          <p:cNvPr name="AutoShape 7" id="7"/>
          <p:cNvSpPr/>
          <p:nvPr/>
        </p:nvSpPr>
        <p:spPr>
          <a:xfrm>
            <a:off x="5791200" y="2120900"/>
            <a:ext cx="4660900" cy="63500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6057900" y="23749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CD4545"/>
          </a:solidFill>
        </p:spPr>
      </p:sp>
      <p:sp>
        <p:nvSpPr>
          <p:cNvPr name="AutoShape 9" id="9"/>
          <p:cNvSpPr/>
          <p:nvPr/>
        </p:nvSpPr>
        <p:spPr>
          <a:xfrm>
            <a:off x="10706100" y="2120900"/>
            <a:ext cx="4660900" cy="63500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0972800" y="23749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CD4545"/>
          </a:solidFill>
        </p:spPr>
      </p:sp>
      <p:sp>
        <p:nvSpPr>
          <p:cNvPr name="TextBox 11" id="11"/>
          <p:cNvSpPr txBox="true"/>
          <p:nvPr/>
        </p:nvSpPr>
        <p:spPr>
          <a:xfrm>
            <a:off x="876300" y="660400"/>
            <a:ext cx="14490700" cy="1168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CD4545"/>
                </a:solidFill>
                <a:latin typeface="Poppins"/>
              </a:rPr>
              <a:t>Model Development Strategy Prioritizes Interpretability and Clinical Deployability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43000" y="3352800"/>
            <a:ext cx="4127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CD4545"/>
                </a:solidFill>
                <a:latin typeface="Poppins"/>
              </a:rPr>
              <a:t>Planned Models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57900" y="3352800"/>
            <a:ext cx="41275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CD4545"/>
                </a:solidFill>
                <a:latin typeface="Poppins"/>
              </a:rPr>
              <a:t>Evaluation Framework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0972800" y="3352800"/>
            <a:ext cx="41275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CD4545"/>
                </a:solidFill>
                <a:latin typeface="Poppins"/>
              </a:rPr>
              <a:t>Deployment Concept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384300" y="39751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Logistic Regression: Baseline, maximum interpretability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384300" y="48895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Random Forest: Capture non-linear interactions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384300" y="5816600"/>
            <a:ext cx="38735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XGBoost: Expected strongest performer, handles class imbalance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384300" y="7112000"/>
            <a:ext cx="38735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Deep Neural Network: Exploratory complex pattern detection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299200" y="44069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Primary metric: AUROC (area under ROC curve)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299200" y="53340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Secondary metrics: Recall and precision for clinical feasibility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299200" y="6261100"/>
            <a:ext cx="38735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Calibration analysis: Ensure predicted probabilities reflect true risk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214100" y="44069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Real-time readmission risk scoring at discharge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1214100" y="53340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Flag high-risk patients for enhanced interventions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1214100" y="62611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Enable care coordination and medication reconciliation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214100" y="7188200"/>
            <a:ext cx="3873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Support accelerated follow-up scheduling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016000" y="4038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016000" y="4953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016000" y="5880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016000" y="7175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5930900" y="4470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5930900" y="5397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5930900" y="6324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10845800" y="4470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10845800" y="5397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10845800" y="6324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10845800" y="7251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616200"/>
            <a:ext cx="241300" cy="241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2616200"/>
            <a:ext cx="241300" cy="2413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4100" y="26162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876300" y="36322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CD4545"/>
                </a:solidFill>
                <a:latin typeface="Poppins"/>
              </a:rPr>
              <a:t>Next Steps: Model Training, Validation, and Clinical Impact Assessment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876300" y="51181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latin typeface="Poppins"/>
              </a:rPr>
              <a:t>Milestone 3 Deliverables and Final Project Components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866900"/>
            <a:ext cx="14490700" cy="6680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115300" y="1866900"/>
            <a:ext cx="12700" cy="6680200"/>
          </a:xfrm>
          <a:prstGeom prst="roundRect">
            <a:avLst>
              <a:gd name="adj" fmla="val 50000"/>
            </a:avLst>
          </a:prstGeom>
          <a:solidFill>
            <a:srgbClr val="CD4545"/>
          </a:solidFill>
        </p:spPr>
      </p:sp>
      <p:sp>
        <p:nvSpPr>
          <p:cNvPr name="AutoShape 6" id="6"/>
          <p:cNvSpPr/>
          <p:nvPr/>
        </p:nvSpPr>
        <p:spPr>
          <a:xfrm>
            <a:off x="876300" y="1866900"/>
            <a:ext cx="7239000" cy="1930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7835900" y="1866900"/>
            <a:ext cx="558800" cy="4826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7112000" y="2095500"/>
            <a:ext cx="749300" cy="12700"/>
          </a:xfrm>
          <a:prstGeom prst="rect">
            <a:avLst/>
          </a:prstGeom>
          <a:solidFill>
            <a:srgbClr val="CD4545"/>
          </a:solidFill>
        </p:spPr>
      </p:sp>
      <p:sp>
        <p:nvSpPr>
          <p:cNvPr name="AutoShape 9" id="9"/>
          <p:cNvSpPr/>
          <p:nvPr/>
        </p:nvSpPr>
        <p:spPr>
          <a:xfrm>
            <a:off x="876300" y="1943100"/>
            <a:ext cx="59817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8115300" y="3162300"/>
            <a:ext cx="7239000" cy="1841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7835900" y="3162300"/>
            <a:ext cx="558800" cy="4826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8382000" y="3390900"/>
            <a:ext cx="749300" cy="12700"/>
          </a:xfrm>
          <a:prstGeom prst="rect">
            <a:avLst/>
          </a:prstGeom>
          <a:solidFill>
            <a:srgbClr val="CD4545"/>
          </a:solidFill>
        </p:spPr>
      </p:sp>
      <p:sp>
        <p:nvSpPr>
          <p:cNvPr name="AutoShape 13" id="13"/>
          <p:cNvSpPr/>
          <p:nvPr/>
        </p:nvSpPr>
        <p:spPr>
          <a:xfrm>
            <a:off x="9385300" y="3225800"/>
            <a:ext cx="59817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4" id="14"/>
          <p:cNvSpPr/>
          <p:nvPr/>
        </p:nvSpPr>
        <p:spPr>
          <a:xfrm>
            <a:off x="876300" y="4241800"/>
            <a:ext cx="7239000" cy="1968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5" id="15"/>
          <p:cNvSpPr/>
          <p:nvPr/>
        </p:nvSpPr>
        <p:spPr>
          <a:xfrm>
            <a:off x="7835900" y="4241800"/>
            <a:ext cx="558800" cy="4826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7112000" y="4470400"/>
            <a:ext cx="749300" cy="12700"/>
          </a:xfrm>
          <a:prstGeom prst="rect">
            <a:avLst/>
          </a:prstGeom>
          <a:solidFill>
            <a:srgbClr val="CD4545"/>
          </a:solidFill>
        </p:spPr>
      </p:sp>
      <p:sp>
        <p:nvSpPr>
          <p:cNvPr name="AutoShape 17" id="17"/>
          <p:cNvSpPr/>
          <p:nvPr/>
        </p:nvSpPr>
        <p:spPr>
          <a:xfrm>
            <a:off x="876300" y="4305300"/>
            <a:ext cx="5981700" cy="1892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8" id="18"/>
          <p:cNvSpPr/>
          <p:nvPr/>
        </p:nvSpPr>
        <p:spPr>
          <a:xfrm>
            <a:off x="8115300" y="5435600"/>
            <a:ext cx="7239000" cy="1930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9" id="19"/>
          <p:cNvSpPr/>
          <p:nvPr/>
        </p:nvSpPr>
        <p:spPr>
          <a:xfrm>
            <a:off x="7835900" y="5435600"/>
            <a:ext cx="558800" cy="4826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8382000" y="5664200"/>
            <a:ext cx="749300" cy="12700"/>
          </a:xfrm>
          <a:prstGeom prst="rect">
            <a:avLst/>
          </a:prstGeom>
          <a:solidFill>
            <a:srgbClr val="CD4545"/>
          </a:solidFill>
        </p:spPr>
      </p:sp>
      <p:sp>
        <p:nvSpPr>
          <p:cNvPr name="AutoShape 21" id="21"/>
          <p:cNvSpPr/>
          <p:nvPr/>
        </p:nvSpPr>
        <p:spPr>
          <a:xfrm>
            <a:off x="9385300" y="5511800"/>
            <a:ext cx="59817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2" id="22"/>
          <p:cNvSpPr/>
          <p:nvPr/>
        </p:nvSpPr>
        <p:spPr>
          <a:xfrm>
            <a:off x="876300" y="6642100"/>
            <a:ext cx="7239000" cy="1905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3" id="23"/>
          <p:cNvSpPr/>
          <p:nvPr/>
        </p:nvSpPr>
        <p:spPr>
          <a:xfrm>
            <a:off x="7835900" y="6642100"/>
            <a:ext cx="558800" cy="482600"/>
          </a:xfrm>
          <a:prstGeom prst="rect">
            <a:avLst/>
          </a:prstGeom>
          <a:solidFill>
            <a:srgbClr val="E1E1E1"/>
          </a:solidFill>
          <a:ln w="12700">
            <a:solidFill>
              <a:srgbClr val="CD4545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7112000" y="6870700"/>
            <a:ext cx="749300" cy="12700"/>
          </a:xfrm>
          <a:prstGeom prst="rect">
            <a:avLst/>
          </a:prstGeom>
          <a:solidFill>
            <a:srgbClr val="CD4545"/>
          </a:solidFill>
        </p:spPr>
      </p:sp>
      <p:sp>
        <p:nvSpPr>
          <p:cNvPr name="AutoShape 25" id="25"/>
          <p:cNvSpPr/>
          <p:nvPr/>
        </p:nvSpPr>
        <p:spPr>
          <a:xfrm>
            <a:off x="876300" y="6718300"/>
            <a:ext cx="5981700" cy="1828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26" id="26"/>
          <p:cNvSpPr txBox="true"/>
          <p:nvPr/>
        </p:nvSpPr>
        <p:spPr>
          <a:xfrm>
            <a:off x="876300" y="584200"/>
            <a:ext cx="144907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300" b="true">
                <a:solidFill>
                  <a:srgbClr val="CD4545"/>
                </a:solidFill>
                <a:latin typeface="Poppins"/>
              </a:rPr>
              <a:t>Milestone 3: Immediate Next Steps and Final Deliverable Components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8064500" y="19431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CD454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876300" y="19431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Complete Data Preparation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8026400" y="32385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CD454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9385300" y="32258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Train and Tune Models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8026400" y="43180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CD454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876300" y="4305300"/>
            <a:ext cx="59817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Conduct Comparative Analysis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8013700" y="55118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CD454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9385300" y="55118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Develop Clinical Framework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8013700" y="67183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CD4545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5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876300" y="67183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CD4545"/>
                </a:solidFill>
                <a:latin typeface="Poppins"/>
              </a:rPr>
              <a:t>Final Deliverable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876300" y="2476500"/>
            <a:ext cx="59817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Finalize feature engineering and prepare cleaned dataset with ~77 features for model training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9385300" y="3771900"/>
            <a:ext cx="59817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Implement Logistic Regression, Random Forest, XGBoost, and Deep Neural Network with hyperparameter optimization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876300" y="5232400"/>
            <a:ext cx="59817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Evaluate models using AUROC, recall, and precision; perform calibration analysis and threshold optimization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9385300" y="6045200"/>
            <a:ext cx="59817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Build clinical decision framework for intervention prioritization and interpretability analysis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876300" y="7251700"/>
            <a:ext cx="5981700" cy="128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latin typeface="Poppins"/>
              </a:rPr>
              <a:t>Model performance results, feature importance analysis, clinical implementation recommendations, deployment architecture, and limitations assessment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  <a:ln w="25400">
            <a:solidFill>
              <a:srgbClr val="CD4545"/>
            </a:solidFill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31573" b="31573"/>
          <a:stretch>
            <a:fillRect/>
          </a:stretch>
        </p:blipFill>
        <p:spPr>
          <a:xfrm>
            <a:off x="25400" y="25400"/>
            <a:ext cx="16192500" cy="90805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25400" y="25400"/>
            <a:ext cx="16192500" cy="9080500"/>
          </a:xfrm>
          <a:prstGeom prst="rect">
            <a:avLst/>
          </a:prstGeom>
          <a:solidFill>
            <a:srgbClr val="E4E4E4">
              <a:alpha val="77647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876300" y="32131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7900" b="true">
                <a:solidFill>
                  <a:srgbClr val="000000"/>
                </a:solidFill>
                <a:latin typeface="Poppins"/>
              </a:rPr>
              <a:t>Thank You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76300" y="47117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2500" b="true">
                <a:solidFill>
                  <a:srgbClr val="000000"/>
                </a:solidFill>
                <a:latin typeface="Poppins"/>
              </a:rPr>
              <a:t>Questions and Discussion Welcome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